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640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1">
                <a:solidFill>
                  <a:srgbClr val="D9C7B0"/>
                </a:solidFill>
                <a:latin typeface="Calibri"/>
              </a:rPr>
              <a:t>DBMS CAPSTONE PROJECT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Georgia"/>
              </a:rPr>
              <a:t>Athenaeum</a:t>
            </a:r>
          </a:p>
        </p:txBody>
      </p:sp>
      <p:sp>
        <p:nvSpPr>
          <p:cNvPr id="6" name="Rectangle 5"/>
          <p:cNvSpPr/>
          <p:nvPr/>
        </p:nvSpPr>
        <p:spPr>
          <a:xfrm>
            <a:off x="932688" y="3246120"/>
            <a:ext cx="1280160" cy="4572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401568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400" b="0">
                <a:solidFill>
                  <a:srgbClr val="F4ECE0"/>
                </a:solidFill>
                <a:latin typeface="Georgia"/>
              </a:rPr>
              <a:t>A Library Management System built on MySQL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61772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What  </a:t>
            </a:r>
            <a:r>
              <a:rPr sz="1600">
                <a:solidFill>
                  <a:srgbClr val="F4ECE0"/>
                </a:solidFill>
                <a:latin typeface="Calibri"/>
              </a:rPr>
              <a:t>— a normalized relational database with a live web front-end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How  </a:t>
            </a:r>
            <a:r>
              <a:rPr sz="1600">
                <a:solidFill>
                  <a:srgbClr val="F4ECE0"/>
                </a:solidFill>
                <a:latin typeface="Calibri"/>
              </a:rPr>
              <a:t>— MySQL · Node/Express · vanilla HTML/CSS/JS, in a 3-tier design</a:t>
            </a:r>
          </a:p>
          <a:p>
            <a:pPr>
              <a:lnSpc>
                <a:spcPct val="106000"/>
              </a:lnSpc>
              <a:spcAft>
                <a:spcPts val="800"/>
              </a:spcAft>
            </a:pPr>
            <a:r>
              <a:rPr sz="1600" b="1">
                <a:solidFill>
                  <a:srgbClr val="D9C7B0"/>
                </a:solidFill>
                <a:latin typeface="Calibri"/>
              </a:rPr>
              <a:t>›  </a:t>
            </a:r>
            <a:r>
              <a:rPr sz="1600" b="1">
                <a:solidFill>
                  <a:srgbClr val="F4ECE0"/>
                </a:solidFill>
                <a:latin typeface="Calibri"/>
              </a:rPr>
              <a:t>Where  </a:t>
            </a:r>
            <a:r>
              <a:rPr sz="1600">
                <a:solidFill>
                  <a:srgbClr val="F4ECE0"/>
                </a:solidFill>
                <a:latin typeface="Calibri"/>
              </a:rPr>
              <a:t>— deployed live on Vercel (app) + Aiven (database)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30936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0">
                <a:solidFill>
                  <a:srgbClr val="D9C7B0"/>
                </a:solidFill>
                <a:latin typeface="Calibri"/>
              </a:rPr>
              <a:t>athenaeum-roky-pauls-projects.vercel.app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7A7263"/>
                </a:solidFill>
                <a:latin typeface="Calibr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How this talk is organised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21031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What is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problem, the goal, and why a library is the perfect 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39312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9312" y="2103120"/>
            <a:ext cx="2670048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95344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95344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How we did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5344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Architecture, the data model, and normalization to 3NF.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37376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37376" y="2103120"/>
            <a:ext cx="2670048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408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408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What we built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3408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database, the logic inside it, the live app &amp; deployment.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35440" y="2103120"/>
            <a:ext cx="2670048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35440" y="21031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91472" y="242316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200" b="1">
                <a:solidFill>
                  <a:srgbClr val="A8503A"/>
                </a:solidFill>
                <a:latin typeface="Calibri"/>
              </a:rPr>
              <a:t>PART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91472" y="278892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100" b="1">
                <a:solidFill>
                  <a:srgbClr val="26415E"/>
                </a:solidFill>
                <a:latin typeface="Georgia"/>
              </a:rPr>
              <a:t>Walkthrough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91472" y="3703320"/>
            <a:ext cx="224028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The build, step by step — design → database → app → ship.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1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IS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A working library, run by a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4937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0">
                <a:solidFill>
                  <a:srgbClr val="2C2A26"/>
                </a:solidFill>
                <a:latin typeface="Calibri"/>
              </a:rPr>
              <a:t>Athenaeum manages the everyday work of a library — and every action is stored, checked and calculated by the MySQL database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971800"/>
            <a:ext cx="49377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Catalogue books, authors, publishers &amp; categories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Track each physical copy and its availability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Issue &amp; return books (borrow–return transactions)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Charge late fines automatically</a:t>
            </a:r>
          </a:p>
          <a:p>
            <a:pPr>
              <a:lnSpc>
                <a:spcPct val="106000"/>
              </a:lnSpc>
              <a:spcAft>
                <a:spcPts val="11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Register members &amp; reserve titles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71616" y="1773936"/>
            <a:ext cx="5504688" cy="362825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pp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828800"/>
            <a:ext cx="5394960" cy="3518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126480" y="544068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The live home page — bookshelf hero + today's figures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1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WHY A LIBRARY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It exercises every relationship 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One domain that naturally needs 1:M, M:N, recursive and 1:1 links: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5603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9848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1 : 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One-to-Many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9848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publisher has many books; a book has many copies.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39312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39312" y="2560320"/>
            <a:ext cx="2670048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67912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A8503A"/>
                </a:solidFill>
                <a:latin typeface="Georgia"/>
              </a:rPr>
              <a:t>M :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67912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Many-to-Many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67912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book has many authors; an author writes many books.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37376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37376" y="2560320"/>
            <a:ext cx="2670048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5976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F5170"/>
                </a:solidFill>
                <a:latin typeface="Georgia"/>
              </a:rPr>
              <a:t>self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5976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Recursive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5976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A category can be a sub-category of another.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235440" y="2560320"/>
            <a:ext cx="267004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35440" y="2560320"/>
            <a:ext cx="2670048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64040" y="2907792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1 :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4040" y="3703320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2C2A26"/>
                </a:solidFill>
                <a:latin typeface="Calibri"/>
              </a:rPr>
              <a:t>One-to-One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64040" y="4206240"/>
            <a:ext cx="2240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Each loan has at most one fine.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System architecture (3-tier)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A browser cannot reach MySQL directly — a server sits in between.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51560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2641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39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26415E"/>
                </a:solidFill>
                <a:latin typeface="Calibri"/>
              </a:rPr>
              <a:t>PRESENTATION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39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Browser
HTML · CSS · 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39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renders dashboard,
tables &amp; forms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087368" y="3749039"/>
            <a:ext cx="502920" cy="457200"/>
          </a:xfrm>
          <a:prstGeom prst="rightArrow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90288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A85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73168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APPLICATION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73168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Express API
(Node.js)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73168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calls views &amp;
stored procedures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626096" y="3749039"/>
            <a:ext cx="502920" cy="457200"/>
          </a:xfrm>
          <a:prstGeom prst="rightArrow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29016" y="2743200"/>
            <a:ext cx="3017520" cy="24688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0320">
            <a:solidFill>
              <a:srgbClr val="2F51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11896" y="29260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2F5170"/>
                </a:solidFill>
                <a:latin typeface="Calibri"/>
              </a:rPr>
              <a:t>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11896" y="338328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900" b="1">
                <a:solidFill>
                  <a:srgbClr val="2C2A26"/>
                </a:solidFill>
                <a:latin typeface="Georgia"/>
              </a:rPr>
              <a:t>MySQL
(library_db)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11896" y="438912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>
                <a:solidFill>
                  <a:srgbClr val="7A7263"/>
                </a:solidFill>
                <a:latin typeface="Calibri"/>
              </a:rPr>
              <a:t>tables, views,
triggers, procedures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" y="557784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0">
                <a:solidFill>
                  <a:srgbClr val="7A7263"/>
                </a:solidFill>
                <a:latin typeface="Calibri"/>
              </a:rPr>
              <a:t>Hosted as: application on Vercel · database on Aiven.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From ER diagram to 11 tables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3736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0">
                <a:solidFill>
                  <a:srgbClr val="2C2A26"/>
                </a:solidFill>
                <a:latin typeface="Calibri"/>
              </a:rPr>
              <a:t>The entity–relationship design — each box is an entity that becomes one table: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8321040" cy="4655832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240280"/>
            <a:ext cx="8229600" cy="456439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006840" y="2240280"/>
            <a:ext cx="2743200" cy="4564392"/>
          </a:xfrm>
          <a:prstGeom prst="roundRect">
            <a:avLst>
              <a:gd name="adj" fmla="val 5000"/>
            </a:avLst>
          </a:prstGeom>
          <a:solidFill>
            <a:srgbClr val="F6EFE4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62872" y="246888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A8503A"/>
                </a:solidFill>
                <a:latin typeface="Calibri"/>
              </a:rPr>
              <a:t>11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62872" y="2971800"/>
            <a:ext cx="22860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A8503A"/>
                </a:solidFill>
                <a:latin typeface="Calibri"/>
              </a:rPr>
              <a:t>—  </a:t>
            </a:r>
            <a:r>
              <a:rPr sz="1400" b="1">
                <a:solidFill>
                  <a:srgbClr val="2C2A26"/>
                </a:solidFill>
                <a:latin typeface="Calibri"/>
              </a:rPr>
              <a:t>5 </a:t>
            </a:r>
            <a:r>
              <a:rPr sz="1400">
                <a:solidFill>
                  <a:srgbClr val="2C2A26"/>
                </a:solidFill>
                <a:latin typeface="Calibri"/>
              </a:rPr>
              <a:t>catalogue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A8503A"/>
                </a:solidFill>
                <a:latin typeface="Calibri"/>
              </a:rPr>
              <a:t>—  </a:t>
            </a:r>
            <a:r>
              <a:rPr sz="1400" b="1">
                <a:solidFill>
                  <a:srgbClr val="2C2A26"/>
                </a:solidFill>
                <a:latin typeface="Calibri"/>
              </a:rPr>
              <a:t>1 </a:t>
            </a:r>
            <a:r>
              <a:rPr sz="1400">
                <a:solidFill>
                  <a:srgbClr val="2C2A26"/>
                </a:solidFill>
                <a:latin typeface="Calibri"/>
              </a:rPr>
              <a:t>inventory (copies)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A8503A"/>
                </a:solidFill>
                <a:latin typeface="Calibri"/>
              </a:rPr>
              <a:t>—  </a:t>
            </a:r>
            <a:r>
              <a:rPr sz="1400" b="1">
                <a:solidFill>
                  <a:srgbClr val="2C2A26"/>
                </a:solidFill>
                <a:latin typeface="Calibri"/>
              </a:rPr>
              <a:t>2 </a:t>
            </a:r>
            <a:r>
              <a:rPr sz="1400">
                <a:solidFill>
                  <a:srgbClr val="2C2A26"/>
                </a:solidFill>
                <a:latin typeface="Calibri"/>
              </a:rPr>
              <a:t>people</a:t>
            </a:r>
          </a:p>
          <a:p>
            <a:pPr>
              <a:lnSpc>
                <a:spcPct val="106000"/>
              </a:lnSpc>
              <a:spcAft>
                <a:spcPts val="900"/>
              </a:spcAft>
            </a:pPr>
            <a:r>
              <a:rPr sz="1400" b="1">
                <a:solidFill>
                  <a:srgbClr val="A8503A"/>
                </a:solidFill>
                <a:latin typeface="Calibri"/>
              </a:rPr>
              <a:t>—  </a:t>
            </a:r>
            <a:r>
              <a:rPr sz="1400" b="1">
                <a:solidFill>
                  <a:srgbClr val="2C2A26"/>
                </a:solidFill>
                <a:latin typeface="Calibri"/>
              </a:rPr>
              <a:t>3 </a:t>
            </a:r>
            <a:r>
              <a:rPr sz="1400">
                <a:solidFill>
                  <a:srgbClr val="2C2A26"/>
                </a:solidFill>
                <a:latin typeface="Calibri"/>
              </a:rPr>
              <a:t>activity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62872" y="4754880"/>
            <a:ext cx="22860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250" b="0">
                <a:solidFill>
                  <a:srgbClr val="7A7263"/>
                </a:solidFill>
                <a:latin typeface="Calibri"/>
              </a:rPr>
              <a:t>Lines show cardinality — the fork (crow's foot) marks the 'many' side.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data model — 11 entities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5212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1">
                <a:solidFill>
                  <a:srgbClr val="A8503A"/>
                </a:solidFill>
                <a:latin typeface="Calibri"/>
              </a:rPr>
              <a:t>Tables, grouped by 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331720"/>
            <a:ext cx="530352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Catalogue: </a:t>
            </a:r>
            <a:r>
              <a:rPr sz="1550">
                <a:solidFill>
                  <a:srgbClr val="2C2A26"/>
                </a:solidFill>
                <a:latin typeface="Calibri"/>
              </a:rPr>
              <a:t>publisher, category, author, book, book_author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Inventory: </a:t>
            </a:r>
            <a:r>
              <a:rPr sz="1550">
                <a:solidFill>
                  <a:srgbClr val="2C2A26"/>
                </a:solidFill>
                <a:latin typeface="Calibri"/>
              </a:rPr>
              <a:t>book_copy (each physical item + status)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People: </a:t>
            </a:r>
            <a:r>
              <a:rPr sz="1550">
                <a:solidFill>
                  <a:srgbClr val="2C2A26"/>
                </a:solidFill>
                <a:latin typeface="Calibri"/>
              </a:rPr>
              <a:t>member, staff</a:t>
            </a:r>
          </a:p>
          <a:p>
            <a:pPr>
              <a:lnSpc>
                <a:spcPct val="106000"/>
              </a:lnSpc>
              <a:spcAft>
                <a:spcPts val="14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Activity: </a:t>
            </a:r>
            <a:r>
              <a:rPr sz="1550">
                <a:solidFill>
                  <a:srgbClr val="2C2A26"/>
                </a:solidFill>
                <a:latin typeface="Calibri"/>
              </a:rPr>
              <a:t>borrowing, fine, reservation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4937760" cy="4297680"/>
          </a:xfrm>
          <a:prstGeom prst="roundRect">
            <a:avLst>
              <a:gd name="adj" fmla="val 5000"/>
            </a:avLst>
          </a:prstGeom>
          <a:solidFill>
            <a:srgbClr val="F6EFE4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Key relationships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06040"/>
            <a:ext cx="443484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publisher → book  (1:M)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book ↔ author  via book_author  (M:N)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book → book_copy  (1:M)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category → category  (recursive)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borrowing → fine  (1:1)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450" b="1">
                <a:solidFill>
                  <a:srgbClr val="A8503A"/>
                </a:solidFill>
                <a:latin typeface="Calibri"/>
              </a:rPr>
              <a:t>—  </a:t>
            </a:r>
            <a:r>
              <a:rPr sz="1450">
                <a:solidFill>
                  <a:srgbClr val="2C2A26"/>
                </a:solidFill>
                <a:latin typeface="Calibri"/>
              </a:rPr>
              <a:t>member → borrowing  (1:M)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2   </a:t>
            </a:r>
            <a:r>
              <a:rPr sz="1300" b="1">
                <a:solidFill>
                  <a:srgbClr val="7A7263"/>
                </a:solidFill>
                <a:latin typeface="Calibri"/>
              </a:rPr>
              <a:t>HOW WE DID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Normalization to 3NF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600" b="0">
                <a:solidFill>
                  <a:srgbClr val="2C2A26"/>
                </a:solidFill>
                <a:latin typeface="Calibri"/>
              </a:rPr>
              <a:t>Each fact stored once — removing redundancy and anomalies.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468880"/>
            <a:ext cx="3456432" cy="146304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26415E"/>
                </a:solidFill>
                <a:latin typeface="Georgia"/>
              </a:rPr>
              <a:t>1NF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Atomic values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Multi-valued authors &amp; copies moved to their own tables.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25696" y="2468880"/>
            <a:ext cx="3456432" cy="14630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00016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A8503A"/>
                </a:solidFill>
                <a:latin typeface="Georgia"/>
              </a:rPr>
              <a:t>2NF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0016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No partial dependency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Non-key columns depend on the whole composite key.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10144" y="2468880"/>
            <a:ext cx="3456432" cy="3017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10144" y="2468880"/>
            <a:ext cx="3456432" cy="146304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84464" y="278892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600" b="1">
                <a:solidFill>
                  <a:srgbClr val="2F5170"/>
                </a:solidFill>
                <a:latin typeface="Georgia"/>
              </a:rPr>
              <a:t>3NF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50" b="1">
                <a:solidFill>
                  <a:srgbClr val="2C2A26"/>
                </a:solidFill>
                <a:latin typeface="Calibri"/>
              </a:rPr>
              <a:t>No transitive dependency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3977639"/>
            <a:ext cx="29260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Publisher / category details split into their own tables.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database layer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874519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029967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Schema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205740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sql/01_schema.sql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20574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11 tables · all constraints · indexes · ALTER demo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2770632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926079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Sample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953512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sql/02_data.sql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9535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~200 meaningful rows (over the 100 minimum)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3666744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822191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Views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849624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sql/03_views.sql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84962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catalogue, availability, active loans, fines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4562856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4718304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Queries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745736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sql/04_queries.sql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74573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joins · subqueries · aggregates · GROUP BY / HAVING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41248" y="5458968"/>
            <a:ext cx="10515600" cy="78638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614416"/>
            <a:ext cx="2103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Procedures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5641848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00" b="1">
                <a:solidFill>
                  <a:srgbClr val="A8503A"/>
                </a:solidFill>
                <a:latin typeface="Calibri"/>
              </a:rPr>
              <a:t>sql/05_procedures.sql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564184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3 triggers · 3 procedures · 1 function · transactions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Logic inside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0">
                <a:solidFill>
                  <a:srgbClr val="2C2A26"/>
                </a:solidFill>
                <a:latin typeface="Calibri"/>
              </a:rPr>
              <a:t>Rules live in MySQL, so data stays correct however it is accessed.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41248" y="2514600"/>
            <a:ext cx="51663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41248" y="2514600"/>
            <a:ext cx="146304" cy="329184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8" y="27432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900" b="1">
                <a:solidFill>
                  <a:srgbClr val="26415E"/>
                </a:solidFill>
                <a:latin typeface="Georgia"/>
              </a:rPr>
              <a:t>Triggers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7008" y="338328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Block issuing a copy that is not Available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Auto-mark a copy 'Borrowed' when issued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Auto-free the copy + add a fine on late return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81928" y="2514600"/>
            <a:ext cx="5166360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81928" y="2514600"/>
            <a:ext cx="146304" cy="3291840"/>
          </a:xfrm>
          <a:prstGeom prst="rect">
            <a:avLst/>
          </a:prstGeom>
          <a:solidFill>
            <a:srgbClr val="2F51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7688" y="274320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900" b="1">
                <a:solidFill>
                  <a:srgbClr val="26415E"/>
                </a:solidFill>
                <a:latin typeface="Georgia"/>
              </a:rPr>
              <a:t>Procedures &amp; transactions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7688" y="3383280"/>
            <a:ext cx="45720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sp_issue_book / sp_return_book / sp_pay_member_fines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fn_member_balance() — outstanding dues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00" b="1">
                <a:solidFill>
                  <a:srgbClr val="A8503A"/>
                </a:solidFill>
                <a:latin typeface="Calibri"/>
              </a:rPr>
              <a:t>—  </a:t>
            </a:r>
            <a:r>
              <a:rPr sz="1500">
                <a:solidFill>
                  <a:srgbClr val="2C2A26"/>
                </a:solidFill>
                <a:latin typeface="Calibri"/>
              </a:rPr>
              <a:t>Wrapped in transactions with ROLLBACK (ACID)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The live application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86384" y="1819655"/>
            <a:ext cx="5458968" cy="359843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pp_catalog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1874519"/>
            <a:ext cx="5349240" cy="34887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" y="5468112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Catalogue — search + live availability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0216" y="1819655"/>
            <a:ext cx="5093208" cy="335989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pp_loa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874519"/>
            <a:ext cx="4983480" cy="325016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55080" y="5248656"/>
            <a:ext cx="4983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4000"/>
              </a:lnSpc>
              <a:spcAft>
                <a:spcPts val="400"/>
              </a:spcAft>
            </a:pPr>
            <a:r>
              <a:rPr sz="1200" b="0">
                <a:solidFill>
                  <a:srgbClr val="7A7263"/>
                </a:solidFill>
                <a:latin typeface="Calibri"/>
              </a:rPr>
              <a:t>On Loan — overdue flagged, one-click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3   </a:t>
            </a:r>
            <a:r>
              <a:rPr sz="1300" b="1">
                <a:solidFill>
                  <a:srgbClr val="7A7263"/>
                </a:solidFill>
                <a:latin typeface="Calibri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Hosting it online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8" y="1965960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41248" y="1965960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130552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Database → Aiven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167128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Free cloud MySQL; imported sql/init.sql (schema + data + views + procedures).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3026663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3026663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3191256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App → Vercel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227832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Imported the GitHub repo; static front-end + serverless API.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" y="4087368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" y="4087368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88720" y="4251959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Wiring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288536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Set MYSQL_URL &amp; DB_SSL environment variables, then redeployed.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" y="5148072"/>
            <a:ext cx="10515600" cy="9509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397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41248" y="5148072"/>
            <a:ext cx="146304" cy="950976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5312664"/>
            <a:ext cx="3657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Georgia"/>
              </a:rPr>
              <a:t>Result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9240"/>
            <a:ext cx="6583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0">
                <a:solidFill>
                  <a:srgbClr val="7A7263"/>
                </a:solidFill>
                <a:latin typeface="Calibri"/>
              </a:rPr>
              <a:t>A public URL — full front-end ↔ backend ↔ live database.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1–4 · Plan &amp; Design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Understand 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List what a library does; turn the nouns into entities (tables).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Map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Decide 1:M, M:N, recursive and 1:1 links between entities.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Draw the ER diagram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Blueprint all 11 entities before writing any SQL.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Keys &amp; normalization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Surrogate primary keys; design straight to 3NF.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5–9 · Build the Database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Create tables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CREATE TABLE with PK, FK, UNIQUE, CHECK, ENUM + indexes.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Insert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~200 rows; a mix of returned, active &amp; overdue loans.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Create views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Reusable queries for catalogue, availability, loans, fines.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Advanced queries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Joins, subqueries, aggregates, GROUP BY / HAVING.</a:t>
            </a:r>
          </a:p>
        </p:txBody>
      </p:sp>
      <p:sp>
        <p:nvSpPr>
          <p:cNvPr id="18" name="Oval 17"/>
          <p:cNvSpPr/>
          <p:nvPr/>
        </p:nvSpPr>
        <p:spPr>
          <a:xfrm>
            <a:off x="868680" y="5696711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5678423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Triggers &amp; procedures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00200" y="6099047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Move integrity + workflows into the DB, in transactions.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A8503A"/>
                </a:solidFill>
                <a:latin typeface="Calibri"/>
              </a:rPr>
              <a:t>PART 4   </a:t>
            </a:r>
            <a:r>
              <a:rPr sz="1300" b="1">
                <a:solidFill>
                  <a:srgbClr val="7A7263"/>
                </a:solidFill>
                <a:latin typeface="Calibri"/>
              </a:rPr>
              <a:t>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000" b="1">
                <a:solidFill>
                  <a:srgbClr val="26415E"/>
                </a:solidFill>
                <a:latin typeface="Georgia"/>
              </a:rPr>
              <a:t>Step 10–13 · Build &amp; 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1965960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0200" y="1947672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Backend API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2368296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Express endpoints that read views and call stored procedures.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898648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88036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Frontend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330098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Vanilla HTML/CSS/JS — responsive, handmade-style design.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3831335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3813048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Connect with fetch()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42336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JSON over REST; database errors surfaced to the user.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4764023"/>
            <a:ext cx="502920" cy="502920"/>
          </a:xfrm>
          <a:prstGeom prst="ellipse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474573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700" b="1">
                <a:solidFill>
                  <a:srgbClr val="26415E"/>
                </a:solidFill>
                <a:latin typeface="Calibri"/>
              </a:rPr>
              <a:t>Deploy online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5166359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350" b="0">
                <a:solidFill>
                  <a:srgbClr val="7A7263"/>
                </a:solidFill>
                <a:latin typeface="Calibri"/>
              </a:rPr>
              <a:t>Database on Aiven, app on Vercel, wired via env vars.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6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1300" b="1">
                <a:solidFill>
                  <a:srgbClr val="7A7263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3400" b="1">
                <a:solidFill>
                  <a:srgbClr val="26415E"/>
                </a:solidFill>
                <a:latin typeface="Georgia"/>
              </a:rPr>
              <a:t>Deliverables &amp; technology</a:t>
            </a:r>
          </a:p>
        </p:txBody>
      </p:sp>
      <p:sp>
        <p:nvSpPr>
          <p:cNvPr id="5" name="Rectangle 4"/>
          <p:cNvSpPr/>
          <p:nvPr/>
        </p:nvSpPr>
        <p:spPr>
          <a:xfrm>
            <a:off x="841248" y="1572768"/>
            <a:ext cx="822960" cy="54864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92024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800" b="1">
                <a:solidFill>
                  <a:srgbClr val="A8503A"/>
                </a:solidFill>
                <a:latin typeface="Calibri"/>
              </a:rPr>
              <a:t>Deliverables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468880"/>
            <a:ext cx="52120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Relational schema (3NF) + data dictionary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SQL: schema, data, views, queries, procedures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~200-record sample dataset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Working web app (frontend + API)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Report &amp; step-by-step walkthrough (PDF)</a:t>
            </a:r>
          </a:p>
          <a:p>
            <a:pPr>
              <a:lnSpc>
                <a:spcPct val="106000"/>
              </a:lnSpc>
              <a:spcAft>
                <a:spcPts val="10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>
                <a:solidFill>
                  <a:srgbClr val="2C2A26"/>
                </a:solidFill>
                <a:latin typeface="Calibri"/>
              </a:rPr>
              <a:t>This presentation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1920240"/>
            <a:ext cx="4937760" cy="4206240"/>
          </a:xfrm>
          <a:prstGeom prst="roundRect">
            <a:avLst>
              <a:gd name="adj" fmla="val 5000"/>
            </a:avLst>
          </a:prstGeom>
          <a:solidFill>
            <a:srgbClr val="F6EFE4"/>
          </a:solidFill>
          <a:ln w="15240">
            <a:solidFill>
              <a:srgbClr val="E6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75120" y="2148840"/>
            <a:ext cx="4389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800" b="1">
                <a:solidFill>
                  <a:srgbClr val="A8503A"/>
                </a:solidFill>
                <a:latin typeface="Calibri"/>
              </a:rPr>
              <a:t>Technology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0" y="2697480"/>
            <a:ext cx="44348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Database: </a:t>
            </a:r>
            <a:r>
              <a:rPr sz="1550">
                <a:solidFill>
                  <a:srgbClr val="2C2A26"/>
                </a:solidFill>
                <a:latin typeface="Calibri"/>
              </a:rPr>
              <a:t>MySQL 8 (InnoDB)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Backend: </a:t>
            </a:r>
            <a:r>
              <a:rPr sz="1550">
                <a:solidFill>
                  <a:srgbClr val="2C2A26"/>
                </a:solidFill>
                <a:latin typeface="Calibri"/>
              </a:rPr>
              <a:t>Node.js + Express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Frontend: </a:t>
            </a:r>
            <a:r>
              <a:rPr sz="1550">
                <a:solidFill>
                  <a:srgbClr val="2C2A26"/>
                </a:solidFill>
                <a:latin typeface="Calibri"/>
              </a:rPr>
              <a:t>HTML, CSS, JavaScript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Hosting: </a:t>
            </a:r>
            <a:r>
              <a:rPr sz="1550">
                <a:solidFill>
                  <a:srgbClr val="2C2A26"/>
                </a:solidFill>
                <a:latin typeface="Calibri"/>
              </a:rPr>
              <a:t>Vercel + Aiven</a:t>
            </a:r>
          </a:p>
          <a:p>
            <a:pPr>
              <a:lnSpc>
                <a:spcPct val="106000"/>
              </a:lnSpc>
              <a:spcAft>
                <a:spcPts val="1200"/>
              </a:spcAft>
            </a:pPr>
            <a:r>
              <a:rPr sz="1550" b="1">
                <a:solidFill>
                  <a:srgbClr val="A8503A"/>
                </a:solidFill>
                <a:latin typeface="Calibri"/>
              </a:rPr>
              <a:t>—  </a:t>
            </a:r>
            <a:r>
              <a:rPr sz="1550" b="1">
                <a:solidFill>
                  <a:srgbClr val="2C2A26"/>
                </a:solidFill>
                <a:latin typeface="Calibri"/>
              </a:rPr>
              <a:t>Source: </a:t>
            </a:r>
            <a:r>
              <a:rPr sz="1550">
                <a:solidFill>
                  <a:srgbClr val="2C2A26"/>
                </a:solidFill>
                <a:latin typeface="Calibri"/>
              </a:rPr>
              <a:t>GitHub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37376"/>
            <a:ext cx="73152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Athenaeum · Library Management System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437376"/>
            <a:ext cx="914400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4000"/>
              </a:lnSpc>
              <a:spcAft>
                <a:spcPts val="400"/>
              </a:spcAft>
            </a:pPr>
            <a:r>
              <a:rPr sz="1000" b="0">
                <a:solidFill>
                  <a:srgbClr val="7A7263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641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4028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5400" b="1">
                <a:solidFill>
                  <a:srgbClr val="FFFFFF"/>
                </a:solidFill>
                <a:latin typeface="Georgia"/>
              </a:rPr>
              <a:t>Thank you</a:t>
            </a:r>
          </a:p>
        </p:txBody>
      </p:sp>
      <p:sp>
        <p:nvSpPr>
          <p:cNvPr id="4" name="Rectangle 3"/>
          <p:cNvSpPr/>
          <p:nvPr/>
        </p:nvSpPr>
        <p:spPr>
          <a:xfrm>
            <a:off x="932688" y="3383280"/>
            <a:ext cx="1280160" cy="45720"/>
          </a:xfrm>
          <a:prstGeom prst="rect">
            <a:avLst/>
          </a:prstGeom>
          <a:solidFill>
            <a:srgbClr val="A85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611880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2000" b="0">
                <a:solidFill>
                  <a:srgbClr val="F4ECE0"/>
                </a:solidFill>
                <a:latin typeface="Georgia"/>
              </a:rPr>
              <a:t>Athenaeum — Library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3434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500" b="0">
                <a:solidFill>
                  <a:srgbClr val="D9C7B0"/>
                </a:solidFill>
                <a:latin typeface="Calibri"/>
              </a:rPr>
              <a:t>Live demo:  athenaeum-roky-pauls-projects.vercel.app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0916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400"/>
              </a:spcAft>
            </a:pPr>
            <a:r>
              <a:rPr sz="1400" b="0">
                <a:solidFill>
                  <a:srgbClr val="D9C7B0"/>
                </a:solidFill>
                <a:latin typeface="Calibri"/>
              </a:rPr>
              <a:t>Happy to walk through the schema, the SQL, and a live demo.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