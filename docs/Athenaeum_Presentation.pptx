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2F5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500" b="1">
                <a:solidFill>
                  <a:srgbClr val="D9C7B0"/>
                </a:solidFill>
                <a:latin typeface="Calibri"/>
              </a:rPr>
              <a:t>DBMS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6600" b="1">
                <a:solidFill>
                  <a:srgbClr val="FFFFFF"/>
                </a:solidFill>
                <a:latin typeface="Georgia"/>
              </a:rPr>
              <a:t>Athenaeum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400" b="0">
                <a:solidFill>
                  <a:srgbClr val="ECE2D4"/>
                </a:solidFill>
                <a:latin typeface="Georgia"/>
              </a:rPr>
              <a:t>A Library Management System built on 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246120"/>
            <a:ext cx="1280160" cy="45720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D9C7B0"/>
                </a:solidFill>
                <a:latin typeface="Calibri"/>
              </a:rPr>
              <a:t>›  </a:t>
            </a:r>
            <a:r>
              <a:rPr sz="1600" b="1">
                <a:solidFill>
                  <a:srgbClr val="F1E7D9"/>
                </a:solidFill>
                <a:latin typeface="Calibri"/>
              </a:rPr>
              <a:t>What: </a:t>
            </a:r>
            <a:r>
              <a:rPr sz="1600">
                <a:solidFill>
                  <a:srgbClr val="F1E7D9"/>
                </a:solidFill>
                <a:latin typeface="Calibri"/>
              </a:rPr>
              <a:t>a normalized relational database with a live web front-end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D9C7B0"/>
                </a:solidFill>
                <a:latin typeface="Calibri"/>
              </a:rPr>
              <a:t>›  </a:t>
            </a:r>
            <a:r>
              <a:rPr sz="1600" b="1">
                <a:solidFill>
                  <a:srgbClr val="F1E7D9"/>
                </a:solidFill>
                <a:latin typeface="Calibri"/>
              </a:rPr>
              <a:t>Stack: </a:t>
            </a:r>
            <a:r>
              <a:rPr sz="1600">
                <a:solidFill>
                  <a:srgbClr val="F1E7D9"/>
                </a:solidFill>
                <a:latin typeface="Calibri"/>
              </a:rPr>
              <a:t>MySQL · Node/Express · vanilla HTML/CSS/JS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D9C7B0"/>
                </a:solidFill>
                <a:latin typeface="Calibri"/>
              </a:rPr>
              <a:t>›  </a:t>
            </a:r>
            <a:r>
              <a:rPr sz="1600" b="1">
                <a:solidFill>
                  <a:srgbClr val="F1E7D9"/>
                </a:solidFill>
                <a:latin typeface="Calibri"/>
              </a:rPr>
              <a:t>Hosted: </a:t>
            </a:r>
            <a:r>
              <a:rPr sz="1600">
                <a:solidFill>
                  <a:srgbClr val="F1E7D9"/>
                </a:solidFill>
                <a:latin typeface="Calibri"/>
              </a:rPr>
              <a:t>Vercel (app) + Aiven (database) — live on the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0">
                <a:solidFill>
                  <a:srgbClr val="C9B69D"/>
                </a:solidFill>
                <a:latin typeface="Calibri"/>
              </a:rPr>
              <a:t>athenaeum-roky-pauls-projects.vercel.app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058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1 · What is it </a:t>
            </a:r>
            <a:r>
              <a:rPr sz="1800">
                <a:solidFill>
                  <a:srgbClr val="2C2A26"/>
                </a:solidFill>
                <a:latin typeface="Calibri"/>
              </a:rPr>
              <a:t>— the problem and the goal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2 · Why a library </a:t>
            </a:r>
            <a:r>
              <a:rPr sz="1800">
                <a:solidFill>
                  <a:srgbClr val="2C2A26"/>
                </a:solidFill>
                <a:latin typeface="Calibri"/>
              </a:rPr>
              <a:t>— it exercises every relationship type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3 · How we designed it </a:t>
            </a:r>
            <a:r>
              <a:rPr sz="1800">
                <a:solidFill>
                  <a:srgbClr val="2C2A26"/>
                </a:solidFill>
                <a:latin typeface="Calibri"/>
              </a:rPr>
              <a:t>— ER model, keys, normalization to 3NF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4 · What we built </a:t>
            </a:r>
            <a:r>
              <a:rPr sz="1800">
                <a:solidFill>
                  <a:srgbClr val="2C2A26"/>
                </a:solidFill>
                <a:latin typeface="Calibri"/>
              </a:rPr>
              <a:t>— schema, data, views, queries, triggers, procedures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5 · The application </a:t>
            </a:r>
            <a:r>
              <a:rPr sz="1800">
                <a:solidFill>
                  <a:srgbClr val="2C2A26"/>
                </a:solidFill>
                <a:latin typeface="Calibri"/>
              </a:rPr>
              <a:t>— frontend, backend, 3-tier architecture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6 · Walkthrough </a:t>
            </a:r>
            <a:r>
              <a:rPr sz="1800">
                <a:solidFill>
                  <a:srgbClr val="2C2A26"/>
                </a:solidFill>
                <a:latin typeface="Calibri"/>
              </a:rPr>
              <a:t>— the build, step by step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7 · Deployment </a:t>
            </a:r>
            <a:r>
              <a:rPr sz="1800">
                <a:solidFill>
                  <a:srgbClr val="2C2A26"/>
                </a:solidFill>
                <a:latin typeface="Calibri"/>
              </a:rPr>
              <a:t>— hosting it online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—  </a:t>
            </a:r>
            <a:r>
              <a:rPr sz="1800" b="1">
                <a:solidFill>
                  <a:srgbClr val="2C2A26"/>
                </a:solidFill>
                <a:latin typeface="Calibri"/>
              </a:rPr>
              <a:t>8 · Demo &amp; summary</a:t>
            </a:r>
            <a:r>
              <a:rPr sz="1800">
                <a:solidFill>
                  <a:srgbClr val="2C2A26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01 ·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What is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800" b="0">
                <a:solidFill>
                  <a:srgbClr val="2C2A26"/>
                </a:solidFill>
                <a:latin typeface="Calibri"/>
              </a:rPr>
              <a:t>Athenaeum is a database-driven system that runs a library's daily work: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6888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—  </a:t>
            </a:r>
            <a:r>
              <a:rPr sz="1700">
                <a:solidFill>
                  <a:srgbClr val="2C2A26"/>
                </a:solidFill>
                <a:latin typeface="Calibri"/>
              </a:rPr>
              <a:t>Catalogue books, their authors, publishers and categories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—  </a:t>
            </a:r>
            <a:r>
              <a:rPr sz="1700">
                <a:solidFill>
                  <a:srgbClr val="2C2A26"/>
                </a:solidFill>
                <a:latin typeface="Calibri"/>
              </a:rPr>
              <a:t>Track every physical copy and whether it is available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—  </a:t>
            </a:r>
            <a:r>
              <a:rPr sz="1700">
                <a:solidFill>
                  <a:srgbClr val="2C2A26"/>
                </a:solidFill>
                <a:latin typeface="Calibri"/>
              </a:rPr>
              <a:t>Register members and library staff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—  </a:t>
            </a:r>
            <a:r>
              <a:rPr sz="1700">
                <a:solidFill>
                  <a:srgbClr val="2C2A26"/>
                </a:solidFill>
                <a:latin typeface="Calibri"/>
              </a:rPr>
              <a:t>Issue and return books (borrow–return transactions)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—  </a:t>
            </a:r>
            <a:r>
              <a:rPr sz="1700">
                <a:solidFill>
                  <a:srgbClr val="2C2A26"/>
                </a:solidFill>
                <a:latin typeface="Calibri"/>
              </a:rPr>
              <a:t>Charge fines automatically for late returns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—  </a:t>
            </a:r>
            <a:r>
              <a:rPr sz="1700">
                <a:solidFill>
                  <a:srgbClr val="2C2A26"/>
                </a:solidFill>
                <a:latin typeface="Calibri"/>
              </a:rPr>
              <a:t>Let members reserve titles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F6EFE4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600" b="1">
                <a:solidFill>
                  <a:srgbClr val="A8503A"/>
                </a:solidFill>
                <a:latin typeface="Calibri"/>
              </a:rPr>
              <a:t>Core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69748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Relational design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Normalization (3NF)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Referential integrity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Borrow–return logic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Advanced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02 ·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Why a library system?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800" b="0">
                <a:solidFill>
                  <a:srgbClr val="2C2A26"/>
                </a:solidFill>
                <a:latin typeface="Calibri"/>
              </a:rPr>
              <a:t>A library naturally contains every relationship type the course requires: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5603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560320"/>
            <a:ext cx="2670048" cy="146304"/>
          </a:xfrm>
          <a:prstGeom prst="rect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880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>
                <a:solidFill>
                  <a:srgbClr val="26415E"/>
                </a:solidFill>
                <a:latin typeface="Georgia"/>
              </a:rPr>
              <a:t>1 :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600" b="1">
                <a:solidFill>
                  <a:srgbClr val="2C2A26"/>
                </a:solidFill>
                <a:latin typeface="Calibri"/>
              </a:rPr>
              <a:t>One-to-Many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16052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A publisher has many books; a book has many copies.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25603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9312" y="2560320"/>
            <a:ext cx="2670048" cy="14630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880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>
                <a:solidFill>
                  <a:srgbClr val="A8503A"/>
                </a:solidFill>
                <a:latin typeface="Georgia"/>
              </a:rPr>
              <a:t>M :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600" b="1">
                <a:solidFill>
                  <a:srgbClr val="2C2A26"/>
                </a:solidFill>
                <a:latin typeface="Calibri"/>
              </a:rPr>
              <a:t>Many-to-Many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16052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A book has many authors; an author writes many books.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603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2560320"/>
            <a:ext cx="2670048" cy="146304"/>
          </a:xfrm>
          <a:prstGeom prst="rect">
            <a:avLst/>
          </a:prstGeom>
          <a:solidFill>
            <a:srgbClr val="2F5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2880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>
                <a:solidFill>
                  <a:srgbClr val="2F5170"/>
                </a:solidFill>
                <a:latin typeface="Georgia"/>
              </a:rPr>
              <a:t>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600" b="1">
                <a:solidFill>
                  <a:srgbClr val="2C2A26"/>
                </a:solidFill>
                <a:latin typeface="Calibri"/>
              </a:rPr>
              <a:t>Recursive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416052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A category can be a sub-category of another (Physics → Science).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5603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560320"/>
            <a:ext cx="2670048" cy="146304"/>
          </a:xfrm>
          <a:prstGeom prst="rect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8803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>
                <a:solidFill>
                  <a:srgbClr val="26415E"/>
                </a:solidFill>
                <a:latin typeface="Georgia"/>
              </a:rPr>
              <a:t>1 :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600" b="1">
                <a:solidFill>
                  <a:srgbClr val="2C2A26"/>
                </a:solidFill>
                <a:latin typeface="Calibri"/>
              </a:rPr>
              <a:t>One-to-One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16052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Each loan has at most one fine.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System architecture (3-tier)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0">
                <a:solidFill>
                  <a:srgbClr val="2C2A26"/>
                </a:solidFill>
                <a:latin typeface="Calibri"/>
              </a:rPr>
              <a:t>A browser cannot talk to MySQL directly — a server sits in between.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788920"/>
            <a:ext cx="30175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64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26415E"/>
                </a:solidFill>
                <a:latin typeface="Calibri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34290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C2A26"/>
                </a:solidFill>
                <a:latin typeface="Georgia"/>
              </a:rPr>
              <a:t>Browser
HTML · CSS ·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39" y="44348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7A7263"/>
                </a:solidFill>
                <a:latin typeface="Calibri"/>
              </a:rPr>
              <a:t>renders dashboard,
tables &amp; forms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87368" y="3794760"/>
            <a:ext cx="502920" cy="457200"/>
          </a:xfrm>
          <a:prstGeom prst="rightArrow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2788920"/>
            <a:ext cx="30175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A85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4290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C2A26"/>
                </a:solidFill>
                <a:latin typeface="Georgia"/>
              </a:rPr>
              <a:t>Express API
(Node.js)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44348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7A7263"/>
                </a:solidFill>
                <a:latin typeface="Calibri"/>
              </a:rPr>
              <a:t>calls views &amp;
stored procedures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26096" y="3794760"/>
            <a:ext cx="502920" cy="457200"/>
          </a:xfrm>
          <a:prstGeom prst="rightArrow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9016" y="2788920"/>
            <a:ext cx="30175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F51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2F5170"/>
                </a:solidFill>
                <a:latin typeface="Calibri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4290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C2A26"/>
                </a:solidFill>
                <a:latin typeface="Georgia"/>
              </a:rPr>
              <a:t>MySQL
(library_db)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44348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7A7263"/>
                </a:solidFill>
                <a:latin typeface="Calibri"/>
              </a:rPr>
              <a:t>tables, views,
triggers, procedures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235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500" b="0">
                <a:solidFill>
                  <a:srgbClr val="7A7263"/>
                </a:solidFill>
                <a:latin typeface="Calibri"/>
              </a:rPr>
              <a:t>We host the application on Vercel and the database on Aiven.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03 · HOW WE DESIGNED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Schema design &amp; normalization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C2A26"/>
                </a:solidFill>
                <a:latin typeface="Calibri"/>
              </a:rPr>
              <a:t>11 tables, designed to 3rd Normal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52120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1NF </a:t>
            </a:r>
            <a:r>
              <a:rPr sz="1550">
                <a:solidFill>
                  <a:srgbClr val="2C2A26"/>
                </a:solidFill>
                <a:latin typeface="Calibri"/>
              </a:rPr>
              <a:t>— atomic values; authors &amp; copies moved to their own tables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2NF </a:t>
            </a:r>
            <a:r>
              <a:rPr sz="1550">
                <a:solidFill>
                  <a:srgbClr val="2C2A26"/>
                </a:solidFill>
                <a:latin typeface="Calibri"/>
              </a:rPr>
              <a:t>— no partial dependency on a composite key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3NF </a:t>
            </a:r>
            <a:r>
              <a:rPr sz="1550">
                <a:solidFill>
                  <a:srgbClr val="2C2A26"/>
                </a:solidFill>
                <a:latin typeface="Calibri"/>
              </a:rPr>
              <a:t>— no transitive dependency; publisher/category split out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Keys </a:t>
            </a:r>
            <a:r>
              <a:rPr sz="1550">
                <a:solidFill>
                  <a:srgbClr val="2C2A26"/>
                </a:solidFill>
                <a:latin typeface="Calibri"/>
              </a:rPr>
              <a:t>— surrogate primary keys, foreign keys everywhere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Integrity </a:t>
            </a:r>
            <a:r>
              <a:rPr sz="1550">
                <a:solidFill>
                  <a:srgbClr val="2C2A26"/>
                </a:solidFill>
                <a:latin typeface="Calibri"/>
              </a:rPr>
              <a:t>— PK, FK, UNIQUE, CHECK, ENUM, NOT 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4937760" cy="4297680"/>
          </a:xfrm>
          <a:prstGeom prst="roundRect">
            <a:avLst>
              <a:gd name="adj" fmla="val 5000"/>
            </a:avLst>
          </a:prstGeom>
          <a:solidFill>
            <a:srgbClr val="F6EFE4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The 11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2C2A26"/>
                </a:solidFill>
                <a:latin typeface="Calibri"/>
              </a:rPr>
              <a:t>publisher · category · author · book · book_author
book_copy · member · staff · borrowing · fine · reservation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8404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1">
                <a:solidFill>
                  <a:srgbClr val="A8503A"/>
                </a:solidFill>
                <a:latin typeface="Calibri"/>
              </a:rPr>
              <a:t>Why split book vs book_copy?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297680"/>
            <a:ext cx="4434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A title's facts (ISBN, author, price) are stored once in book; each physical item lives in book_copy with its own barcode and status. No repeated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04 ·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The database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05156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2082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57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sql/01_schema.sql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11 tables · all constraints · indexes · ALTER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770632"/>
            <a:ext cx="105156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Sample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535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sql/02_data.sql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535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~200 meaningful rows (well over the 100 minimum)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666744"/>
            <a:ext cx="105156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13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962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sql/03_views.sql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96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catalogue, availability, active loans, outstanding fines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562856"/>
            <a:ext cx="105156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7457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sql/04_queries.sql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7457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joins · subqueries · aggregates · GROUP BY / HAVING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458968"/>
            <a:ext cx="105156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60527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Procedures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64184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sql/05_procedures.sql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641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3 triggers · 3 procedures · 1 function · transactions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04 ·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Logic inside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0">
                <a:solidFill>
                  <a:srgbClr val="2C2A26"/>
                </a:solidFill>
                <a:latin typeface="Calibri"/>
              </a:rPr>
              <a:t>Business rules live in MySQL, so data stays correct no matter how it is accessed.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514600"/>
            <a:ext cx="51663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514600"/>
            <a:ext cx="146304" cy="3291840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743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900" b="1">
                <a:solidFill>
                  <a:srgbClr val="26415E"/>
                </a:solidFill>
                <a:latin typeface="Georgia"/>
              </a:rPr>
              <a:t>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38328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Block issuing a copy that is not Available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Auto-mark a copy 'Borrowed' when issued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Auto-free the copy + create a fine on late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514600"/>
            <a:ext cx="51663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2514600"/>
            <a:ext cx="146304" cy="3291840"/>
          </a:xfrm>
          <a:prstGeom prst="rect">
            <a:avLst/>
          </a:prstGeom>
          <a:solidFill>
            <a:srgbClr val="2F5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743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900" b="1">
                <a:solidFill>
                  <a:srgbClr val="26415E"/>
                </a:solidFill>
                <a:latin typeface="Georgia"/>
              </a:rPr>
              <a:t>Procedures &amp;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38328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sp_issue_book / sp_return_book / sp_pay_member_fines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fn_member_balance() — outstanding dues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A8503A"/>
                </a:solidFill>
                <a:latin typeface="Calibri"/>
              </a:rPr>
              <a:t>—  </a:t>
            </a:r>
            <a:r>
              <a:rPr sz="1500">
                <a:solidFill>
                  <a:srgbClr val="2C2A26"/>
                </a:solidFill>
                <a:latin typeface="Calibri"/>
              </a:rPr>
              <a:t>Wrapped in transactions with ROLLBACK on error (ACID)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What the app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51663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151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live counts of titles, members, loans &amp; fines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011680"/>
            <a:ext cx="51663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1762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Catalogue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6151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searchable list with real-time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383280"/>
            <a:ext cx="51663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5478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867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directory with active / inactive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383280"/>
            <a:ext cx="51663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5478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Issue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9867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calls a stored procedure; trigger guards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754880"/>
            <a:ext cx="51663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9194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Active loans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3583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overdue highlighting + one-click return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4754880"/>
            <a:ext cx="51663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9194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A8503A"/>
                </a:solidFill>
                <a:latin typeface="Calibri"/>
              </a:rPr>
              <a:t>Fines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3583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outstanding dues per member, mark as paid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06 ·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>
                <a:solidFill>
                  <a:srgbClr val="26415E"/>
                </a:solidFill>
                <a:latin typeface="Georgia"/>
              </a:rPr>
              <a:t>Walkthrough · Plan &amp;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836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Understand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0428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List what a library does; turn nouns into entities (tables).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52928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Map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36976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Decide 1:M, M:N, recursive and 1:1 links between entities.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85616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490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Draw the ER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16966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Blueprint all 11 entities before writing any SQL.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718304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8172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Choose keys &amp; 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10235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Surrogate primary keys; design straight to 3NF.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06 ·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>
                <a:solidFill>
                  <a:srgbClr val="26415E"/>
                </a:solidFill>
                <a:latin typeface="Georgia"/>
              </a:rPr>
              <a:t>Walkthrough · Build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836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Create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0428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CREATE TABLE with PK, FK, UNIQUE, CHECK, ENUM constraints + indexes.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52928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Insert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36976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~200 rows; a deliberate mix of returned, active &amp; overdue loans.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85616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490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Create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16966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Reusable queries for catalogue, availability, loans, fines.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718304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8172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Write advanced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10235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Joins, subqueries, aggregates, GROUP BY / HAVING.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650992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61441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Add triggers &amp; procedures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603504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Move integrity + workflows into the database, in transactions.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06 ·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>
                <a:solidFill>
                  <a:srgbClr val="26415E"/>
                </a:solidFill>
                <a:latin typeface="Georgia"/>
              </a:rPr>
              <a:t>Walkthrough · Build &amp; Ship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836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Backend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0428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Express endpoints that read views and call stored procedures.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52928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Frontend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36976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Vanilla HTML/CSS/JS — responsive, handmade-style design.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85616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490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Connect with fetch()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16966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JSON over REST; database errors shown to the user.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718304"/>
            <a:ext cx="502920" cy="502920"/>
          </a:xfrm>
          <a:prstGeom prst="ellipse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8172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Calibri"/>
              </a:rPr>
              <a:t>Deploy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10235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7A7263"/>
                </a:solidFill>
                <a:latin typeface="Calibri"/>
              </a:rPr>
              <a:t>Database on Aiven, app on Vercel, configured via env vars.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07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Hosting it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65960"/>
            <a:ext cx="10515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65960"/>
            <a:ext cx="146304" cy="950976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1226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Database → Aiven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Created a free cloud MySQL and imported sql/init.sql (schema + data + views + procedures).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026663"/>
            <a:ext cx="10515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026663"/>
            <a:ext cx="146304" cy="950976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7296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App → 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9544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Imported the GitHub repo; served as static frontend + serverless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087368"/>
            <a:ext cx="10515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087368"/>
            <a:ext cx="146304" cy="950976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3367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Wiring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70248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Set MYSQL_URL and DB_SSL env vars in Vercel, then redeployed.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148072"/>
            <a:ext cx="10515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148072"/>
            <a:ext cx="146304" cy="950976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29437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700" b="1">
                <a:solidFill>
                  <a:srgbClr val="26415E"/>
                </a:solidFill>
                <a:latin typeface="Georgia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30952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7A7263"/>
                </a:solidFill>
                <a:latin typeface="Calibri"/>
              </a:rPr>
              <a:t>A public URL anyone can open — full frontend ↔ backend ↔ live database.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>
                <a:solidFill>
                  <a:srgbClr val="A8503A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>
                <a:solidFill>
                  <a:srgbClr val="26415E"/>
                </a:solidFill>
                <a:latin typeface="Georgia"/>
              </a:rPr>
              <a:t>Deliverables &amp; 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52120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6888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>
                <a:solidFill>
                  <a:srgbClr val="2C2A26"/>
                </a:solidFill>
                <a:latin typeface="Calibri"/>
              </a:rPr>
              <a:t>Relational schema (3NF) + data dictionary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>
                <a:solidFill>
                  <a:srgbClr val="2C2A26"/>
                </a:solidFill>
                <a:latin typeface="Calibri"/>
              </a:rPr>
              <a:t>SQL scripts: schema, data, views, queries, procedures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>
                <a:solidFill>
                  <a:srgbClr val="2C2A26"/>
                </a:solidFill>
                <a:latin typeface="Calibri"/>
              </a:rPr>
              <a:t>~200 record sample dataset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>
                <a:solidFill>
                  <a:srgbClr val="2C2A26"/>
                </a:solidFill>
                <a:latin typeface="Calibri"/>
              </a:rPr>
              <a:t>Working web application (frontend + API)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>
                <a:solidFill>
                  <a:srgbClr val="2C2A26"/>
                </a:solidFill>
                <a:latin typeface="Calibri"/>
              </a:rPr>
              <a:t>Project report &amp; step-by-step walkthrough (PDF)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>
                <a:solidFill>
                  <a:srgbClr val="2C2A26"/>
                </a:solidFill>
                <a:latin typeface="Calibri"/>
              </a:rPr>
              <a:t>This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4937760" cy="4206240"/>
          </a:xfrm>
          <a:prstGeom prst="roundRect">
            <a:avLst>
              <a:gd name="adj" fmla="val 5000"/>
            </a:avLst>
          </a:prstGeom>
          <a:solidFill>
            <a:srgbClr val="F6EFE4"/>
          </a:solidFill>
          <a:ln w="15240">
            <a:solidFill>
              <a:srgbClr val="ECE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488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800" b="1">
                <a:solidFill>
                  <a:srgbClr val="A8503A"/>
                </a:solidFill>
                <a:latin typeface="Calibri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434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Database: </a:t>
            </a:r>
            <a:r>
              <a:rPr sz="1550">
                <a:solidFill>
                  <a:srgbClr val="2C2A26"/>
                </a:solidFill>
                <a:latin typeface="Calibri"/>
              </a:rPr>
              <a:t>MySQL 8 (InnoDB)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Backend: </a:t>
            </a:r>
            <a:r>
              <a:rPr sz="1550">
                <a:solidFill>
                  <a:srgbClr val="2C2A26"/>
                </a:solidFill>
                <a:latin typeface="Calibri"/>
              </a:rPr>
              <a:t>Node.js + Express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Frontend: </a:t>
            </a:r>
            <a:r>
              <a:rPr sz="1550">
                <a:solidFill>
                  <a:srgbClr val="2C2A26"/>
                </a:solidFill>
                <a:latin typeface="Calibri"/>
              </a:rPr>
              <a:t>HTML, CSS, JavaScript (no framework)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Hosting: </a:t>
            </a:r>
            <a:r>
              <a:rPr sz="1550">
                <a:solidFill>
                  <a:srgbClr val="2C2A26"/>
                </a:solidFill>
                <a:latin typeface="Calibri"/>
              </a:rPr>
              <a:t>Vercel + Aiven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A8503A"/>
                </a:solidFill>
                <a:latin typeface="Calibri"/>
              </a:rPr>
              <a:t>—  </a:t>
            </a:r>
            <a:r>
              <a:rPr sz="1550" b="1">
                <a:solidFill>
                  <a:srgbClr val="2C2A26"/>
                </a:solidFill>
                <a:latin typeface="Calibri"/>
              </a:rPr>
              <a:t>Source: </a:t>
            </a:r>
            <a:r>
              <a:rPr sz="1550">
                <a:solidFill>
                  <a:srgbClr val="2C2A26"/>
                </a:solidFill>
                <a:latin typeface="Calibri"/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Athenaeum · Library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000" b="0">
                <a:solidFill>
                  <a:srgbClr val="7A726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429000"/>
            <a:ext cx="1280160" cy="45720"/>
          </a:xfrm>
          <a:prstGeom prst="rect">
            <a:avLst/>
          </a:prstGeom>
          <a:solidFill>
            <a:srgbClr val="A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000" b="0">
                <a:solidFill>
                  <a:srgbClr val="ECE2D4"/>
                </a:solidFill>
                <a:latin typeface="Georgia"/>
              </a:rPr>
              <a:t>Athenaeum — Library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500" b="0">
                <a:solidFill>
                  <a:srgbClr val="C9B69D"/>
                </a:solidFill>
                <a:latin typeface="Calibri"/>
              </a:rPr>
              <a:t>Live demo:  athenaeum-roky-pauls-projects.vercel.app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C9B69D"/>
                </a:solidFill>
                <a:latin typeface="Calibri"/>
              </a:rPr>
              <a:t>Questions &amp; viva — happy to walk through the schema, queries, and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